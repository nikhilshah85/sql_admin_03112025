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463" y="27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2" Type="http://schemas.openxmlformats.org/officeDocument/2006/relationships/hyperlink" Target="http://www.nikhilshah.in/" TargetMode="External"/><Relationship Id="rId1" Type="http://schemas.openxmlformats.org/officeDocument/2006/relationships/hyperlink" Target="mailto:Nikhilshah.net@hotmail.com"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www.nikhilshah.in/" TargetMode="External"/><Relationship Id="rId1" Type="http://schemas.openxmlformats.org/officeDocument/2006/relationships/hyperlink" Target="mailto:Nikhilshah.net@hotmail.com" TargetMode="Externa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14466C-06D6-41C4-8B4E-D4D7B091ADAB}" type="doc">
      <dgm:prSet loTypeId="urn:microsoft.com/office/officeart/2005/8/layout/vList2" loCatId="list" qsTypeId="urn:microsoft.com/office/officeart/2005/8/quickstyle/3d5" qsCatId="3D" csTypeId="urn:microsoft.com/office/officeart/2005/8/colors/accent1_3" csCatId="accent1"/>
      <dgm:spPr/>
      <dgm:t>
        <a:bodyPr/>
        <a:lstStyle/>
        <a:p>
          <a:endParaRPr lang="en-US"/>
        </a:p>
      </dgm:t>
    </dgm:pt>
    <dgm:pt modelId="{0D94AF6B-CBE8-4C97-B021-C3299256FDDA}">
      <dgm:prSet/>
      <dgm:spPr/>
      <dgm:t>
        <a:bodyPr/>
        <a:lstStyle/>
        <a:p>
          <a:r>
            <a:rPr lang="en-IN"/>
            <a:t>Nikhil Shah</a:t>
          </a:r>
          <a:endParaRPr lang="en-US"/>
        </a:p>
      </dgm:t>
    </dgm:pt>
    <dgm:pt modelId="{0E6A3AC3-02DD-4A14-9D2B-23A0FF8B056A}" type="parTrans" cxnId="{B9FA0504-F762-4622-A10C-BD4F51845E83}">
      <dgm:prSet/>
      <dgm:spPr/>
      <dgm:t>
        <a:bodyPr/>
        <a:lstStyle/>
        <a:p>
          <a:endParaRPr lang="en-US"/>
        </a:p>
      </dgm:t>
    </dgm:pt>
    <dgm:pt modelId="{CB4DE406-EE44-4465-B70B-54EB9226DE8B}" type="sibTrans" cxnId="{B9FA0504-F762-4622-A10C-BD4F51845E83}">
      <dgm:prSet/>
      <dgm:spPr/>
      <dgm:t>
        <a:bodyPr/>
        <a:lstStyle/>
        <a:p>
          <a:endParaRPr lang="en-US"/>
        </a:p>
      </dgm:t>
    </dgm:pt>
    <dgm:pt modelId="{ACC7B527-8190-4743-874B-9326DDFFF7AF}">
      <dgm:prSet/>
      <dgm:spPr/>
      <dgm:t>
        <a:bodyPr/>
        <a:lstStyle/>
        <a:p>
          <a:r>
            <a:rPr lang="en-IN">
              <a:hlinkClick xmlns:r="http://schemas.openxmlformats.org/officeDocument/2006/relationships" r:id="rId1"/>
            </a:rPr>
            <a:t>nikhilshah.net@hotmail.com</a:t>
          </a:r>
          <a:endParaRPr lang="en-US"/>
        </a:p>
      </dgm:t>
    </dgm:pt>
    <dgm:pt modelId="{E0EB8D37-1C2E-4EE9-B02C-DAD38B6C7943}" type="parTrans" cxnId="{59370C8A-FCD7-442B-BB65-BA92F6204089}">
      <dgm:prSet/>
      <dgm:spPr/>
      <dgm:t>
        <a:bodyPr/>
        <a:lstStyle/>
        <a:p>
          <a:endParaRPr lang="en-US"/>
        </a:p>
      </dgm:t>
    </dgm:pt>
    <dgm:pt modelId="{BEFFC3C8-C027-489D-825A-16D831B8D548}" type="sibTrans" cxnId="{59370C8A-FCD7-442B-BB65-BA92F6204089}">
      <dgm:prSet/>
      <dgm:spPr/>
      <dgm:t>
        <a:bodyPr/>
        <a:lstStyle/>
        <a:p>
          <a:endParaRPr lang="en-US"/>
        </a:p>
      </dgm:t>
    </dgm:pt>
    <dgm:pt modelId="{46807DD9-F6BC-4BCA-B47C-7450FA0A5A95}">
      <dgm:prSet/>
      <dgm:spPr/>
      <dgm:t>
        <a:bodyPr/>
        <a:lstStyle/>
        <a:p>
          <a:r>
            <a:rPr lang="en-IN">
              <a:hlinkClick xmlns:r="http://schemas.openxmlformats.org/officeDocument/2006/relationships" r:id="rId2"/>
            </a:rPr>
            <a:t>http://www.nikhilshah.in</a:t>
          </a:r>
          <a:endParaRPr lang="en-US"/>
        </a:p>
      </dgm:t>
    </dgm:pt>
    <dgm:pt modelId="{E71E4578-4983-452E-B935-F49F8FFBFADB}" type="parTrans" cxnId="{52AEEEDA-125F-47A9-B391-E1ED823990B2}">
      <dgm:prSet/>
      <dgm:spPr/>
      <dgm:t>
        <a:bodyPr/>
        <a:lstStyle/>
        <a:p>
          <a:endParaRPr lang="en-US"/>
        </a:p>
      </dgm:t>
    </dgm:pt>
    <dgm:pt modelId="{ADE516B7-A753-47A8-A5CB-0DB4A4CC7A39}" type="sibTrans" cxnId="{52AEEEDA-125F-47A9-B391-E1ED823990B2}">
      <dgm:prSet/>
      <dgm:spPr/>
      <dgm:t>
        <a:bodyPr/>
        <a:lstStyle/>
        <a:p>
          <a:endParaRPr lang="en-US"/>
        </a:p>
      </dgm:t>
    </dgm:pt>
    <dgm:pt modelId="{3501FCE0-FE64-4D28-9F3C-04F4232CEC1D}" type="pres">
      <dgm:prSet presAssocID="{5814466C-06D6-41C4-8B4E-D4D7B091ADAB}" presName="linear" presStyleCnt="0">
        <dgm:presLayoutVars>
          <dgm:animLvl val="lvl"/>
          <dgm:resizeHandles val="exact"/>
        </dgm:presLayoutVars>
      </dgm:prSet>
      <dgm:spPr/>
    </dgm:pt>
    <dgm:pt modelId="{2014992B-A2EA-4046-B8B7-F5D3CEFDE60A}" type="pres">
      <dgm:prSet presAssocID="{0D94AF6B-CBE8-4C97-B021-C3299256FDDA}" presName="parentText" presStyleLbl="node1" presStyleIdx="0" presStyleCnt="3">
        <dgm:presLayoutVars>
          <dgm:chMax val="0"/>
          <dgm:bulletEnabled val="1"/>
        </dgm:presLayoutVars>
      </dgm:prSet>
      <dgm:spPr/>
    </dgm:pt>
    <dgm:pt modelId="{593FC6ED-CD3A-401D-8191-291242381621}" type="pres">
      <dgm:prSet presAssocID="{CB4DE406-EE44-4465-B70B-54EB9226DE8B}" presName="spacer" presStyleCnt="0"/>
      <dgm:spPr/>
    </dgm:pt>
    <dgm:pt modelId="{03C698D1-49ED-48D7-911A-B7FC5CA4B949}" type="pres">
      <dgm:prSet presAssocID="{ACC7B527-8190-4743-874B-9326DDFFF7AF}" presName="parentText" presStyleLbl="node1" presStyleIdx="1" presStyleCnt="3">
        <dgm:presLayoutVars>
          <dgm:chMax val="0"/>
          <dgm:bulletEnabled val="1"/>
        </dgm:presLayoutVars>
      </dgm:prSet>
      <dgm:spPr/>
    </dgm:pt>
    <dgm:pt modelId="{ACE3986B-BCE3-4B9E-AB31-EB2DEF767124}" type="pres">
      <dgm:prSet presAssocID="{BEFFC3C8-C027-489D-825A-16D831B8D548}" presName="spacer" presStyleCnt="0"/>
      <dgm:spPr/>
    </dgm:pt>
    <dgm:pt modelId="{D3EFF95D-765F-4F8C-B44A-F2E9480AFD70}" type="pres">
      <dgm:prSet presAssocID="{46807DD9-F6BC-4BCA-B47C-7450FA0A5A95}" presName="parentText" presStyleLbl="node1" presStyleIdx="2" presStyleCnt="3">
        <dgm:presLayoutVars>
          <dgm:chMax val="0"/>
          <dgm:bulletEnabled val="1"/>
        </dgm:presLayoutVars>
      </dgm:prSet>
      <dgm:spPr/>
    </dgm:pt>
  </dgm:ptLst>
  <dgm:cxnLst>
    <dgm:cxn modelId="{B9FA0504-F762-4622-A10C-BD4F51845E83}" srcId="{5814466C-06D6-41C4-8B4E-D4D7B091ADAB}" destId="{0D94AF6B-CBE8-4C97-B021-C3299256FDDA}" srcOrd="0" destOrd="0" parTransId="{0E6A3AC3-02DD-4A14-9D2B-23A0FF8B056A}" sibTransId="{CB4DE406-EE44-4465-B70B-54EB9226DE8B}"/>
    <dgm:cxn modelId="{1F40832A-B437-4468-A273-8ADAC7B7EAAD}" type="presOf" srcId="{46807DD9-F6BC-4BCA-B47C-7450FA0A5A95}" destId="{D3EFF95D-765F-4F8C-B44A-F2E9480AFD70}" srcOrd="0" destOrd="0" presId="urn:microsoft.com/office/officeart/2005/8/layout/vList2"/>
    <dgm:cxn modelId="{2DB8EE71-8AA5-4852-B5BB-AAEE7029D051}" type="presOf" srcId="{0D94AF6B-CBE8-4C97-B021-C3299256FDDA}" destId="{2014992B-A2EA-4046-B8B7-F5D3CEFDE60A}" srcOrd="0" destOrd="0" presId="urn:microsoft.com/office/officeart/2005/8/layout/vList2"/>
    <dgm:cxn modelId="{59370C8A-FCD7-442B-BB65-BA92F6204089}" srcId="{5814466C-06D6-41C4-8B4E-D4D7B091ADAB}" destId="{ACC7B527-8190-4743-874B-9326DDFFF7AF}" srcOrd="1" destOrd="0" parTransId="{E0EB8D37-1C2E-4EE9-B02C-DAD38B6C7943}" sibTransId="{BEFFC3C8-C027-489D-825A-16D831B8D548}"/>
    <dgm:cxn modelId="{62F140B1-081A-4E68-AD35-D8AB2137ECF9}" type="presOf" srcId="{ACC7B527-8190-4743-874B-9326DDFFF7AF}" destId="{03C698D1-49ED-48D7-911A-B7FC5CA4B949}" srcOrd="0" destOrd="0" presId="urn:microsoft.com/office/officeart/2005/8/layout/vList2"/>
    <dgm:cxn modelId="{3C4399C8-8BFA-406F-9CFF-A68580FF648C}" type="presOf" srcId="{5814466C-06D6-41C4-8B4E-D4D7B091ADAB}" destId="{3501FCE0-FE64-4D28-9F3C-04F4232CEC1D}" srcOrd="0" destOrd="0" presId="urn:microsoft.com/office/officeart/2005/8/layout/vList2"/>
    <dgm:cxn modelId="{52AEEEDA-125F-47A9-B391-E1ED823990B2}" srcId="{5814466C-06D6-41C4-8B4E-D4D7B091ADAB}" destId="{46807DD9-F6BC-4BCA-B47C-7450FA0A5A95}" srcOrd="2" destOrd="0" parTransId="{E71E4578-4983-452E-B935-F49F8FFBFADB}" sibTransId="{ADE516B7-A753-47A8-A5CB-0DB4A4CC7A39}"/>
    <dgm:cxn modelId="{C8B85EA4-1C44-426C-880D-F4C2D2A07224}" type="presParOf" srcId="{3501FCE0-FE64-4D28-9F3C-04F4232CEC1D}" destId="{2014992B-A2EA-4046-B8B7-F5D3CEFDE60A}" srcOrd="0" destOrd="0" presId="urn:microsoft.com/office/officeart/2005/8/layout/vList2"/>
    <dgm:cxn modelId="{0CCE16D6-78C3-46E6-8D3D-D6DECF248F8A}" type="presParOf" srcId="{3501FCE0-FE64-4D28-9F3C-04F4232CEC1D}" destId="{593FC6ED-CD3A-401D-8191-291242381621}" srcOrd="1" destOrd="0" presId="urn:microsoft.com/office/officeart/2005/8/layout/vList2"/>
    <dgm:cxn modelId="{E0DDCF82-917F-4EA4-B20E-5DE577FCD3A0}" type="presParOf" srcId="{3501FCE0-FE64-4D28-9F3C-04F4232CEC1D}" destId="{03C698D1-49ED-48D7-911A-B7FC5CA4B949}" srcOrd="2" destOrd="0" presId="urn:microsoft.com/office/officeart/2005/8/layout/vList2"/>
    <dgm:cxn modelId="{A3698FC1-5F68-4543-A64B-3415BB579D47}" type="presParOf" srcId="{3501FCE0-FE64-4D28-9F3C-04F4232CEC1D}" destId="{ACE3986B-BCE3-4B9E-AB31-EB2DEF767124}" srcOrd="3" destOrd="0" presId="urn:microsoft.com/office/officeart/2005/8/layout/vList2"/>
    <dgm:cxn modelId="{9A786FBB-636C-4A19-A68E-6F039130A94A}" type="presParOf" srcId="{3501FCE0-FE64-4D28-9F3C-04F4232CEC1D}" destId="{D3EFF95D-765F-4F8C-B44A-F2E9480AFD7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4992B-A2EA-4046-B8B7-F5D3CEFDE60A}">
      <dsp:nvSpPr>
        <dsp:cNvPr id="0" name=""/>
        <dsp:cNvSpPr/>
      </dsp:nvSpPr>
      <dsp:spPr>
        <a:xfrm>
          <a:off x="0" y="1522377"/>
          <a:ext cx="5000124" cy="743535"/>
        </a:xfrm>
        <a:prstGeom prst="roundRect">
          <a:avLst/>
        </a:prstGeom>
        <a:solidFill>
          <a:schemeClr val="accent1">
            <a:shade val="80000"/>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t>Nikhil Shah</a:t>
          </a:r>
          <a:endParaRPr lang="en-US" sz="3100" kern="1200"/>
        </a:p>
      </dsp:txBody>
      <dsp:txXfrm>
        <a:off x="36296" y="1558673"/>
        <a:ext cx="4927532" cy="670943"/>
      </dsp:txXfrm>
    </dsp:sp>
    <dsp:sp modelId="{03C698D1-49ED-48D7-911A-B7FC5CA4B949}">
      <dsp:nvSpPr>
        <dsp:cNvPr id="0" name=""/>
        <dsp:cNvSpPr/>
      </dsp:nvSpPr>
      <dsp:spPr>
        <a:xfrm>
          <a:off x="0" y="2355192"/>
          <a:ext cx="5000124" cy="743535"/>
        </a:xfrm>
        <a:prstGeom prst="roundRect">
          <a:avLst/>
        </a:prstGeom>
        <a:solidFill>
          <a:schemeClr val="accent1">
            <a:shade val="80000"/>
            <a:hueOff val="153123"/>
            <a:satOff val="-2196"/>
            <a:lumOff val="12807"/>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hlinkClick xmlns:r="http://schemas.openxmlformats.org/officeDocument/2006/relationships" r:id="rId1"/>
            </a:rPr>
            <a:t>nikhilshah.net@hotmail.com</a:t>
          </a:r>
          <a:endParaRPr lang="en-US" sz="3100" kern="1200"/>
        </a:p>
      </dsp:txBody>
      <dsp:txXfrm>
        <a:off x="36296" y="2391488"/>
        <a:ext cx="4927532" cy="670943"/>
      </dsp:txXfrm>
    </dsp:sp>
    <dsp:sp modelId="{D3EFF95D-765F-4F8C-B44A-F2E9480AFD70}">
      <dsp:nvSpPr>
        <dsp:cNvPr id="0" name=""/>
        <dsp:cNvSpPr/>
      </dsp:nvSpPr>
      <dsp:spPr>
        <a:xfrm>
          <a:off x="0" y="3188007"/>
          <a:ext cx="5000124" cy="743535"/>
        </a:xfrm>
        <a:prstGeom prst="roundRect">
          <a:avLst/>
        </a:prstGeom>
        <a:solidFill>
          <a:schemeClr val="accent1">
            <a:shade val="80000"/>
            <a:hueOff val="306246"/>
            <a:satOff val="-4392"/>
            <a:lumOff val="25615"/>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hlinkClick xmlns:r="http://schemas.openxmlformats.org/officeDocument/2006/relationships" r:id="rId2"/>
            </a:rPr>
            <a:t>http://www.nikhilshah.in</a:t>
          </a:r>
          <a:endParaRPr lang="en-US" sz="3100" kern="1200"/>
        </a:p>
      </dsp:txBody>
      <dsp:txXfrm>
        <a:off x="36296" y="3224303"/>
        <a:ext cx="4927532"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A65E3B-A039-61A2-66BE-F7F90ADFD920}"/>
              </a:ext>
            </a:extLst>
          </p:cNvPr>
          <p:cNvPicPr>
            <a:picLocks noChangeAspect="1"/>
          </p:cNvPicPr>
          <p:nvPr/>
        </p:nvPicPr>
        <p:blipFill>
          <a:blip r:embed="rId2"/>
          <a:srcRect r="25217" b="1"/>
          <a:stretch>
            <a:fillRect/>
          </a:stretch>
        </p:blipFill>
        <p:spPr>
          <a:xfrm>
            <a:off x="-2585" y="-1"/>
            <a:ext cx="9146585"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4271" y="4121944"/>
            <a:ext cx="5945838" cy="1620665"/>
          </a:xfrm>
        </p:spPr>
        <p:txBody>
          <a:bodyPr>
            <a:normAutofit/>
          </a:bodyPr>
          <a:lstStyle/>
          <a:p>
            <a:pPr algn="l"/>
            <a:r>
              <a:rPr lang="en-US" sz="3500">
                <a:solidFill>
                  <a:srgbClr val="FFFFFF"/>
                </a:solidFill>
              </a:rPr>
              <a:t>Module 2: Working with Databases and Storage</a:t>
            </a:r>
          </a:p>
        </p:txBody>
      </p:sp>
      <p:sp>
        <p:nvSpPr>
          <p:cNvPr id="3" name="Subtitle 2"/>
          <p:cNvSpPr>
            <a:spLocks noGrp="1"/>
          </p:cNvSpPr>
          <p:nvPr>
            <p:ph type="subTitle" idx="1"/>
          </p:nvPr>
        </p:nvSpPr>
        <p:spPr>
          <a:xfrm>
            <a:off x="644271" y="5737867"/>
            <a:ext cx="5956785" cy="618479"/>
          </a:xfrm>
        </p:spPr>
        <p:txBody>
          <a:bodyPr>
            <a:normAutofit/>
          </a:bodyPr>
          <a:lstStyle/>
          <a:p>
            <a:pPr algn="l"/>
            <a:r>
              <a:rPr lang="en-IN" sz="1700">
                <a:solidFill>
                  <a:srgbClr val="FFFFFF"/>
                </a:solidFill>
              </a:rPr>
              <a:t>SQL Server Database Administration Training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15299" y="548464"/>
            <a:ext cx="5098906" cy="1675623"/>
          </a:xfrm>
        </p:spPr>
        <p:txBody>
          <a:bodyPr anchor="b">
            <a:normAutofit/>
          </a:bodyPr>
          <a:lstStyle/>
          <a:p>
            <a:r>
              <a:rPr lang="en-IN" sz="3500"/>
              <a:t>Module Overview</a:t>
            </a:r>
          </a:p>
        </p:txBody>
      </p:sp>
      <p:pic>
        <p:nvPicPr>
          <p:cNvPr id="5" name="Picture 4">
            <a:extLst>
              <a:ext uri="{FF2B5EF4-FFF2-40B4-BE49-F238E27FC236}">
                <a16:creationId xmlns:a16="http://schemas.microsoft.com/office/drawing/2014/main" id="{C689D41A-8219-9778-3654-179F022CF72D}"/>
              </a:ext>
            </a:extLst>
          </p:cNvPr>
          <p:cNvPicPr>
            <a:picLocks noChangeAspect="1"/>
          </p:cNvPicPr>
          <p:nvPr/>
        </p:nvPicPr>
        <p:blipFill>
          <a:blip r:embed="rId2"/>
          <a:srcRect l="23083" r="51102"/>
          <a:stretch>
            <a:fillRect/>
          </a:stretch>
        </p:blipFill>
        <p:spPr>
          <a:xfrm>
            <a:off x="20" y="10"/>
            <a:ext cx="3147352" cy="6857990"/>
          </a:xfrm>
          <a:prstGeom prst="rect">
            <a:avLst/>
          </a:prstGeom>
          <a:effectLst/>
        </p:spPr>
      </p:pic>
      <p:sp>
        <p:nvSpPr>
          <p:cNvPr id="3" name="Content Placeholder 2"/>
          <p:cNvSpPr>
            <a:spLocks noGrp="1"/>
          </p:cNvSpPr>
          <p:nvPr>
            <p:ph idx="1"/>
          </p:nvPr>
        </p:nvSpPr>
        <p:spPr>
          <a:xfrm>
            <a:off x="3415300" y="2409830"/>
            <a:ext cx="5098904" cy="3705217"/>
          </a:xfrm>
        </p:spPr>
        <p:txBody>
          <a:bodyPr>
            <a:normAutofit/>
          </a:bodyPr>
          <a:lstStyle/>
          <a:p>
            <a:r>
              <a:rPr lang="en-US" sz="1700"/>
              <a:t>This module describes how data is stored in databases, how to create and manage database files, and how to move them. It also covers managing tempdb and using fast storage to extend SQL Server buffer pool cache.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49E89B-63A5-45DA-A170-5B661FCE4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D714AD-9E94-4752-AA45-D4B0EAAB5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52"/>
            <a:ext cx="3333122" cy="632334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9558" y="767258"/>
            <a:ext cx="2407001" cy="5323484"/>
          </a:xfrm>
        </p:spPr>
        <p:txBody>
          <a:bodyPr>
            <a:normAutofit/>
          </a:bodyPr>
          <a:lstStyle/>
          <a:p>
            <a:r>
              <a:rPr lang="en-IN" sz="2400">
                <a:solidFill>
                  <a:schemeClr val="bg1"/>
                </a:solidFill>
              </a:rPr>
              <a:t>Lessons Covered</a:t>
            </a:r>
          </a:p>
        </p:txBody>
      </p:sp>
      <p:sp>
        <p:nvSpPr>
          <p:cNvPr id="12" name="Rectangle 11">
            <a:extLst>
              <a:ext uri="{FF2B5EF4-FFF2-40B4-BE49-F238E27FC236}">
                <a16:creationId xmlns:a16="http://schemas.microsoft.com/office/drawing/2014/main" id="{7FF89E09-42FB-4694-96E4-95652B1D8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882" y="3404998"/>
            <a:ext cx="6858002" cy="4800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14" name="Rectangle 13">
            <a:extLst>
              <a:ext uri="{FF2B5EF4-FFF2-40B4-BE49-F238E27FC236}">
                <a16:creationId xmlns:a16="http://schemas.microsoft.com/office/drawing/2014/main" id="{25D3C032-881F-4579-A4BF-0FA966E9F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70645"/>
            <a:ext cx="9144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3" name="Content Placeholder 2"/>
          <p:cNvSpPr>
            <a:spLocks noGrp="1"/>
          </p:cNvSpPr>
          <p:nvPr>
            <p:ph idx="1"/>
          </p:nvPr>
        </p:nvSpPr>
        <p:spPr>
          <a:xfrm>
            <a:off x="4306419" y="767258"/>
            <a:ext cx="3965943" cy="5323484"/>
          </a:xfrm>
        </p:spPr>
        <p:txBody>
          <a:bodyPr anchor="ctr">
            <a:normAutofit/>
          </a:bodyPr>
          <a:lstStyle/>
          <a:p>
            <a:pPr marL="0" indent="0">
              <a:buNone/>
            </a:pPr>
            <a:r>
              <a:rPr lang="en-IN" sz="1700"/>
              <a:t>• Introduction to Data Storage with SQL Server</a:t>
            </a:r>
          </a:p>
          <a:p>
            <a:pPr marL="0" indent="0">
              <a:buNone/>
            </a:pPr>
            <a:r>
              <a:rPr lang="en-IN" sz="1700"/>
              <a:t>• Database Structure Internals</a:t>
            </a:r>
          </a:p>
          <a:p>
            <a:pPr marL="0" indent="0">
              <a:buNone/>
            </a:pPr>
            <a:r>
              <a:rPr lang="en-IN" sz="1700"/>
              <a:t>• Data File Internals</a:t>
            </a:r>
          </a:p>
          <a:p>
            <a:pPr marL="0" indent="0">
              <a:buNone/>
            </a:pPr>
            <a:r>
              <a:rPr lang="en-IN" sz="1700"/>
              <a:t>• Filegroup and its Purpose</a:t>
            </a:r>
          </a:p>
          <a:p>
            <a:pPr marL="0" indent="0">
              <a:buNone/>
            </a:pPr>
            <a:r>
              <a:rPr lang="en-IN" sz="1700"/>
              <a:t>• Managing Storage for System Databases</a:t>
            </a:r>
          </a:p>
          <a:p>
            <a:pPr marL="0" indent="0">
              <a:buNone/>
            </a:pPr>
            <a:r>
              <a:rPr lang="en-IN" sz="1700"/>
              <a:t>• Managing Storage for User Databases</a:t>
            </a:r>
          </a:p>
          <a:p>
            <a:pPr marL="0" indent="0">
              <a:buNone/>
            </a:pPr>
            <a:r>
              <a:rPr lang="en-IN" sz="1700"/>
              <a:t>• Moving User Database Files</a:t>
            </a:r>
          </a:p>
          <a:p>
            <a:pPr marL="0" indent="0">
              <a:buNone/>
            </a:pPr>
            <a:r>
              <a:rPr lang="en-IN" sz="1700"/>
              <a:t>• Moving Tempdb Database Files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200">
                <a:solidFill>
                  <a:srgbClr val="FFFFFF"/>
                </a:solidFill>
              </a:rPr>
              <a:t>Introduction to Data Storage with SQL Server</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Understand how SQL Server organizes and stores data within databases.</a:t>
            </a:r>
          </a:p>
          <a:p>
            <a:r>
              <a:rPr lang="en-US" sz="1700"/>
              <a:t>Learn about pages, extents, and allocation.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IN" sz="3500">
                <a:solidFill>
                  <a:srgbClr val="FFFFFF"/>
                </a:solidFill>
              </a:rPr>
              <a:t>Database Structure Internals</a:t>
            </a:r>
          </a:p>
        </p:txBody>
      </p:sp>
      <p:sp>
        <p:nvSpPr>
          <p:cNvPr id="3" name="Content Placeholder 2"/>
          <p:cNvSpPr>
            <a:spLocks noGrp="1"/>
          </p:cNvSpPr>
          <p:nvPr>
            <p:ph idx="1"/>
          </p:nvPr>
        </p:nvSpPr>
        <p:spPr>
          <a:xfrm>
            <a:off x="4877368" y="649480"/>
            <a:ext cx="3646835" cy="5546047"/>
          </a:xfrm>
        </p:spPr>
        <p:txBody>
          <a:bodyPr anchor="ctr">
            <a:normAutofit/>
          </a:bodyPr>
          <a:lstStyle/>
          <a:p>
            <a:r>
              <a:rPr lang="en-US" sz="1700"/>
              <a:t>Explore logical and physical structures of databases including data pages, extents, and allocation maps.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986118" y="735106"/>
            <a:ext cx="7540322" cy="2928470"/>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Data File Internals</a:t>
            </a:r>
          </a:p>
        </p:txBody>
      </p:sp>
      <p:sp>
        <p:nvSpPr>
          <p:cNvPr id="3" name="Content Placeholder 2"/>
          <p:cNvSpPr>
            <a:spLocks noGrp="1"/>
          </p:cNvSpPr>
          <p:nvPr>
            <p:ph idx="1"/>
          </p:nvPr>
        </p:nvSpPr>
        <p:spPr>
          <a:xfrm>
            <a:off x="1013011" y="4870824"/>
            <a:ext cx="7504463" cy="1458258"/>
          </a:xfrm>
        </p:spPr>
        <p:txBody>
          <a:bodyPr vert="horz" lIns="91440" tIns="45720" rIns="91440" bIns="45720" rtlCol="0" anchor="ctr">
            <a:normAutofit/>
          </a:bodyPr>
          <a:lstStyle/>
          <a:p>
            <a:pPr marL="0" indent="0" defTabSz="914400">
              <a:lnSpc>
                <a:spcPct val="90000"/>
              </a:lnSpc>
              <a:spcBef>
                <a:spcPts val="1000"/>
              </a:spcBef>
              <a:buNone/>
            </a:pPr>
            <a:r>
              <a:rPr lang="en-US" sz="2400" kern="1200">
                <a:solidFill>
                  <a:schemeClr val="tx1"/>
                </a:solidFill>
                <a:latin typeface="+mn-lt"/>
                <a:ea typeface="+mn-ea"/>
                <a:cs typeface="+mn-cs"/>
              </a:rPr>
              <a:t>Understand MDF, NDF, and LDF files and their roles in SQL Server storage.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IN" sz="3500">
                <a:solidFill>
                  <a:srgbClr val="FFFFFF"/>
                </a:solidFill>
              </a:rPr>
              <a:t>Filegroup and its Purpose</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Learn how filegroups help organize data files for better performance and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1"/>
            <a:ext cx="9169464"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3"/>
            <a:ext cx="8829202"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3"/>
            <a:ext cx="9175185"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505509" y="212908"/>
            <a:ext cx="6861931"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269287" y="1712598"/>
            <a:ext cx="4967533"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121925" y="818984"/>
            <a:ext cx="5036024" cy="3178689"/>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Managing Storage for System Databases</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90110"/>
            <a:ext cx="9163282"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214047" y="4960961"/>
            <a:ext cx="5291920" cy="1078054"/>
          </a:xfrm>
        </p:spPr>
        <p:txBody>
          <a:bodyPr vert="horz" lIns="91440" tIns="45720" rIns="91440" bIns="45720" rtlCol="0">
            <a:normAutofit/>
          </a:bodyPr>
          <a:lstStyle/>
          <a:p>
            <a:pPr marL="0" indent="0" defTabSz="914400">
              <a:lnSpc>
                <a:spcPct val="90000"/>
              </a:lnSpc>
              <a:spcBef>
                <a:spcPts val="1000"/>
              </a:spcBef>
              <a:buNone/>
            </a:pPr>
            <a:r>
              <a:rPr lang="en-US" sz="2200" kern="1200">
                <a:solidFill>
                  <a:srgbClr val="FFFFFF"/>
                </a:solidFill>
                <a:latin typeface="+mn-lt"/>
                <a:ea typeface="+mn-ea"/>
                <a:cs typeface="+mn-cs"/>
              </a:rPr>
              <a:t>Manage and configure storage for master, model, msdb, and tempdb databases.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IN" sz="3500">
                <a:solidFill>
                  <a:srgbClr val="FFFFFF"/>
                </a:solidFill>
              </a:rPr>
              <a:t>Managing Storage for User Databases</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Learn how to size, monitor, and optimize user database files and filegroups.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IN" sz="3500">
                <a:solidFill>
                  <a:srgbClr val="FFFFFF"/>
                </a:solidFill>
              </a:rPr>
              <a:t>Moving User Database Files</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Understand methods and best practices to move database files safely.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IN" sz="3500">
                <a:solidFill>
                  <a:srgbClr val="FFFFFF"/>
                </a:solidFill>
              </a:rPr>
              <a:t>Moving Tempdb Database Files</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Learn how to move tempdb database files to different drives for performance optimization.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endParaRPr lang="en-IN" sz="3500">
              <a:solidFill>
                <a:srgbClr val="FFFFFF"/>
              </a:solidFill>
            </a:endParaRPr>
          </a:p>
        </p:txBody>
      </p:sp>
      <p:sp>
        <p:nvSpPr>
          <p:cNvPr id="3" name="Content Placeholder 2"/>
          <p:cNvSpPr>
            <a:spLocks noGrp="1"/>
          </p:cNvSpPr>
          <p:nvPr>
            <p:ph idx="1"/>
          </p:nvPr>
        </p:nvSpPr>
        <p:spPr>
          <a:xfrm>
            <a:off x="3607694" y="649480"/>
            <a:ext cx="4916510" cy="5546047"/>
          </a:xfrm>
        </p:spPr>
        <p:txBody>
          <a:bodyPr anchor="ctr">
            <a:normAutofit/>
          </a:bodyPr>
          <a:lstStyle/>
          <a:p>
            <a:pPr marL="0" indent="0">
              <a:buNone/>
            </a:pPr>
            <a:r>
              <a:rPr lang="en-IN" sz="11500" dirty="0"/>
              <a:t>Lab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5244E0-0831-BC52-F3F2-DCAE918C6E29}"/>
              </a:ext>
            </a:extLst>
          </p:cNvPr>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Thank you </a:t>
            </a:r>
          </a:p>
        </p:txBody>
      </p:sp>
      <p:graphicFrame>
        <p:nvGraphicFramePr>
          <p:cNvPr id="5" name="Content Placeholder 2">
            <a:extLst>
              <a:ext uri="{FF2B5EF4-FFF2-40B4-BE49-F238E27FC236}">
                <a16:creationId xmlns:a16="http://schemas.microsoft.com/office/drawing/2014/main" id="{D9CEEC3C-CCE5-0B1C-F3BF-3144E35AB39D}"/>
              </a:ext>
            </a:extLst>
          </p:cNvPr>
          <p:cNvGraphicFramePr>
            <a:graphicFrameLocks noGrp="1"/>
          </p:cNvGraphicFramePr>
          <p:nvPr>
            <p:ph idx="1"/>
            <p:extLst>
              <p:ext uri="{D42A27DB-BD31-4B8C-83A1-F6EECF244321}">
                <p14:modId xmlns:p14="http://schemas.microsoft.com/office/powerpoint/2010/main" val="121617835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4241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276</Words>
  <Application>Microsoft Office PowerPoint</Application>
  <PresentationFormat>On-screen Show (4:3)</PresentationFormat>
  <Paragraphs>35</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Module 2: Working with Databases and Storage</vt:lpstr>
      <vt:lpstr>Module Overview</vt:lpstr>
      <vt:lpstr>Lessons Covered</vt:lpstr>
      <vt:lpstr>Introduction to Data Storage with SQL Server</vt:lpstr>
      <vt:lpstr>Database Structure Internals</vt:lpstr>
      <vt:lpstr>Data File Internals</vt:lpstr>
      <vt:lpstr>Filegroup and its Purpose</vt:lpstr>
      <vt:lpstr>Managing Storage for System Databases</vt:lpstr>
      <vt:lpstr>Managing Storage for User Databases</vt:lpstr>
      <vt:lpstr>Moving User Database Files</vt:lpstr>
      <vt:lpstr>Moving Tempdb Database Files</vt:lpstr>
      <vt:lpstr>PowerPoint Presentation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Nikhil Shah</cp:lastModifiedBy>
  <cp:revision>2</cp:revision>
  <dcterms:created xsi:type="dcterms:W3CDTF">2013-01-27T09:14:16Z</dcterms:created>
  <dcterms:modified xsi:type="dcterms:W3CDTF">2025-11-03T03:20:21Z</dcterms:modified>
  <cp:category/>
</cp:coreProperties>
</file>